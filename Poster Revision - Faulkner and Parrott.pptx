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7131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50" d="100"/>
          <a:sy n="150" d="100"/>
        </p:scale>
        <p:origin x="2070" y="13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4476B95-1513-49FA-A67C-8C08CE13B78F}"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1B6AF0-0B74-45F2-A104-B6D595F585D8}" type="slidenum">
              <a:rPr lang="en-US" smtClean="0"/>
              <a:t>‹#›</a:t>
            </a:fld>
            <a:endParaRPr lang="en-US"/>
          </a:p>
        </p:txBody>
      </p:sp>
    </p:spTree>
    <p:extLst>
      <p:ext uri="{BB962C8B-B14F-4D97-AF65-F5344CB8AC3E}">
        <p14:creationId xmlns:p14="http://schemas.microsoft.com/office/powerpoint/2010/main" val="21328012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476B95-1513-49FA-A67C-8C08CE13B78F}"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1B6AF0-0B74-45F2-A104-B6D595F585D8}" type="slidenum">
              <a:rPr lang="en-US" smtClean="0"/>
              <a:t>‹#›</a:t>
            </a:fld>
            <a:endParaRPr lang="en-US"/>
          </a:p>
        </p:txBody>
      </p:sp>
    </p:spTree>
    <p:extLst>
      <p:ext uri="{BB962C8B-B14F-4D97-AF65-F5344CB8AC3E}">
        <p14:creationId xmlns:p14="http://schemas.microsoft.com/office/powerpoint/2010/main" val="4263277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476B95-1513-49FA-A67C-8C08CE13B78F}"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1B6AF0-0B74-45F2-A104-B6D595F585D8}" type="slidenum">
              <a:rPr lang="en-US" smtClean="0"/>
              <a:t>‹#›</a:t>
            </a:fld>
            <a:endParaRPr lang="en-US"/>
          </a:p>
        </p:txBody>
      </p:sp>
    </p:spTree>
    <p:extLst>
      <p:ext uri="{BB962C8B-B14F-4D97-AF65-F5344CB8AC3E}">
        <p14:creationId xmlns:p14="http://schemas.microsoft.com/office/powerpoint/2010/main" val="2509884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4476B95-1513-49FA-A67C-8C08CE13B78F}"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1B6AF0-0B74-45F2-A104-B6D595F585D8}" type="slidenum">
              <a:rPr lang="en-US" smtClean="0"/>
              <a:t>‹#›</a:t>
            </a:fld>
            <a:endParaRPr lang="en-US"/>
          </a:p>
        </p:txBody>
      </p:sp>
    </p:spTree>
    <p:extLst>
      <p:ext uri="{BB962C8B-B14F-4D97-AF65-F5344CB8AC3E}">
        <p14:creationId xmlns:p14="http://schemas.microsoft.com/office/powerpoint/2010/main" val="2803344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4476B95-1513-49FA-A67C-8C08CE13B78F}"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1B6AF0-0B74-45F2-A104-B6D595F585D8}" type="slidenum">
              <a:rPr lang="en-US" smtClean="0"/>
              <a:t>‹#›</a:t>
            </a:fld>
            <a:endParaRPr lang="en-US"/>
          </a:p>
        </p:txBody>
      </p:sp>
    </p:spTree>
    <p:extLst>
      <p:ext uri="{BB962C8B-B14F-4D97-AF65-F5344CB8AC3E}">
        <p14:creationId xmlns:p14="http://schemas.microsoft.com/office/powerpoint/2010/main" val="3314384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476B95-1513-49FA-A67C-8C08CE13B78F}" type="datetimeFigureOut">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1B6AF0-0B74-45F2-A104-B6D595F585D8}" type="slidenum">
              <a:rPr lang="en-US" smtClean="0"/>
              <a:t>‹#›</a:t>
            </a:fld>
            <a:endParaRPr lang="en-US"/>
          </a:p>
        </p:txBody>
      </p:sp>
    </p:spTree>
    <p:extLst>
      <p:ext uri="{BB962C8B-B14F-4D97-AF65-F5344CB8AC3E}">
        <p14:creationId xmlns:p14="http://schemas.microsoft.com/office/powerpoint/2010/main" val="2420868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476B95-1513-49FA-A67C-8C08CE13B78F}" type="datetimeFigureOut">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1B6AF0-0B74-45F2-A104-B6D595F585D8}" type="slidenum">
              <a:rPr lang="en-US" smtClean="0"/>
              <a:t>‹#›</a:t>
            </a:fld>
            <a:endParaRPr lang="en-US"/>
          </a:p>
        </p:txBody>
      </p:sp>
    </p:spTree>
    <p:extLst>
      <p:ext uri="{BB962C8B-B14F-4D97-AF65-F5344CB8AC3E}">
        <p14:creationId xmlns:p14="http://schemas.microsoft.com/office/powerpoint/2010/main" val="3320380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476B95-1513-49FA-A67C-8C08CE13B78F}"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1B6AF0-0B74-45F2-A104-B6D595F585D8}" type="slidenum">
              <a:rPr lang="en-US" smtClean="0"/>
              <a:t>‹#›</a:t>
            </a:fld>
            <a:endParaRPr lang="en-US"/>
          </a:p>
        </p:txBody>
      </p:sp>
    </p:spTree>
    <p:extLst>
      <p:ext uri="{BB962C8B-B14F-4D97-AF65-F5344CB8AC3E}">
        <p14:creationId xmlns:p14="http://schemas.microsoft.com/office/powerpoint/2010/main" val="2102228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476B95-1513-49FA-A67C-8C08CE13B78F}"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1B6AF0-0B74-45F2-A104-B6D595F585D8}" type="slidenum">
              <a:rPr lang="en-US" smtClean="0"/>
              <a:t>‹#›</a:t>
            </a:fld>
            <a:endParaRPr lang="en-US"/>
          </a:p>
        </p:txBody>
      </p:sp>
    </p:spTree>
    <p:extLst>
      <p:ext uri="{BB962C8B-B14F-4D97-AF65-F5344CB8AC3E}">
        <p14:creationId xmlns:p14="http://schemas.microsoft.com/office/powerpoint/2010/main" val="4257366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476B95-1513-49FA-A67C-8C08CE13B78F}"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1B6AF0-0B74-45F2-A104-B6D595F585D8}" type="slidenum">
              <a:rPr lang="en-US" smtClean="0"/>
              <a:t>‹#›</a:t>
            </a:fld>
            <a:endParaRPr lang="en-US"/>
          </a:p>
        </p:txBody>
      </p:sp>
    </p:spTree>
    <p:extLst>
      <p:ext uri="{BB962C8B-B14F-4D97-AF65-F5344CB8AC3E}">
        <p14:creationId xmlns:p14="http://schemas.microsoft.com/office/powerpoint/2010/main" val="485376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476B95-1513-49FA-A67C-8C08CE13B78F}"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1B6AF0-0B74-45F2-A104-B6D595F585D8}" type="slidenum">
              <a:rPr lang="en-US" smtClean="0"/>
              <a:t>‹#›</a:t>
            </a:fld>
            <a:endParaRPr lang="en-US"/>
          </a:p>
        </p:txBody>
      </p:sp>
    </p:spTree>
    <p:extLst>
      <p:ext uri="{BB962C8B-B14F-4D97-AF65-F5344CB8AC3E}">
        <p14:creationId xmlns:p14="http://schemas.microsoft.com/office/powerpoint/2010/main" val="1594332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476B95-1513-49FA-A67C-8C08CE13B78F}" type="datetimeFigureOut">
              <a:rPr lang="en-US" smtClean="0"/>
              <a:t>5/5/2026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1B6AF0-0B74-45F2-A104-B6D595F585D8}" type="slidenum">
              <a:rPr lang="en-US" smtClean="0"/>
              <a:t>‹#›</a:t>
            </a:fld>
            <a:endParaRPr lang="en-US"/>
          </a:p>
        </p:txBody>
      </p:sp>
    </p:spTree>
    <p:extLst>
      <p:ext uri="{BB962C8B-B14F-4D97-AF65-F5344CB8AC3E}">
        <p14:creationId xmlns:p14="http://schemas.microsoft.com/office/powerpoint/2010/main" val="33044162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30000"/>
          </a:schemeClr>
        </a:solidFill>
        <a:effectLst/>
      </p:bgPr>
    </p:bg>
    <p:spTree>
      <p:nvGrpSpPr>
        <p:cNvPr id="1" name=""/>
        <p:cNvGrpSpPr/>
        <p:nvPr/>
      </p:nvGrpSpPr>
      <p:grpSpPr>
        <a:xfrm>
          <a:off x="0" y="0"/>
          <a:ext cx="0" cy="0"/>
          <a:chOff x="0" y="0"/>
          <a:chExt cx="0" cy="0"/>
        </a:xfrm>
      </p:grpSpPr>
      <p:sp>
        <p:nvSpPr>
          <p:cNvPr id="18" name="Flowchart: Alternate Process 17">
            <a:extLst>
              <a:ext uri="{FF2B5EF4-FFF2-40B4-BE49-F238E27FC236}">
                <a16:creationId xmlns:a16="http://schemas.microsoft.com/office/drawing/2014/main" id="{AA344FBB-B7DF-CA03-A7DA-37C09DAEA815}"/>
              </a:ext>
            </a:extLst>
          </p:cNvPr>
          <p:cNvSpPr/>
          <p:nvPr/>
        </p:nvSpPr>
        <p:spPr>
          <a:xfrm>
            <a:off x="229107" y="1412066"/>
            <a:ext cx="4191000" cy="2337824"/>
          </a:xfrm>
          <a:prstGeom prst="flowChartAlternateProcess">
            <a:avLst/>
          </a:prstGeom>
          <a:solidFill>
            <a:schemeClr val="tx1">
              <a:alpha val="10000"/>
            </a:schemeClr>
          </a:solidFill>
          <a:ln w="38100"/>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800" dirty="0">
              <a:solidFill>
                <a:schemeClr val="tx1"/>
              </a:solidFill>
              <a:latin typeface="Times New Roman" panose="02020603050405020304" pitchFamily="18" charset="0"/>
              <a:cs typeface="Times New Roman" panose="02020603050405020304" pitchFamily="18" charset="0"/>
            </a:endParaRPr>
          </a:p>
          <a:p>
            <a:endParaRPr lang="en-US" sz="800" dirty="0">
              <a:solidFill>
                <a:schemeClr val="tx1"/>
              </a:solidFill>
              <a:latin typeface="Times New Roman" panose="02020603050405020304" pitchFamily="18" charset="0"/>
              <a:cs typeface="Times New Roman" panose="02020603050405020304" pitchFamily="18" charset="0"/>
            </a:endParaRPr>
          </a:p>
          <a:p>
            <a:endParaRPr lang="en-US" sz="800" dirty="0">
              <a:solidFill>
                <a:schemeClr val="tx1"/>
              </a:solidFill>
              <a:latin typeface="Times New Roman" panose="02020603050405020304" pitchFamily="18" charset="0"/>
              <a:cs typeface="Times New Roman" panose="02020603050405020304" pitchFamily="18" charset="0"/>
            </a:endParaRPr>
          </a:p>
          <a:p>
            <a:r>
              <a:rPr lang="en-US" sz="800" dirty="0">
                <a:solidFill>
                  <a:schemeClr val="tx1"/>
                </a:solidFill>
                <a:latin typeface="Times New Roman" panose="02020603050405020304" pitchFamily="18" charset="0"/>
                <a:cs typeface="Times New Roman" panose="02020603050405020304" pitchFamily="18" charset="0"/>
              </a:rPr>
              <a:t>This project is based on the archeological site Valle Gianni, located in central Italy near Lake </a:t>
            </a:r>
            <a:r>
              <a:rPr lang="en-US" sz="800" dirty="0" err="1">
                <a:solidFill>
                  <a:schemeClr val="tx1"/>
                </a:solidFill>
                <a:latin typeface="Times New Roman" panose="02020603050405020304" pitchFamily="18" charset="0"/>
                <a:cs typeface="Times New Roman" panose="02020603050405020304" pitchFamily="18" charset="0"/>
              </a:rPr>
              <a:t>Bolsena</a:t>
            </a:r>
            <a:r>
              <a:rPr lang="en-US" sz="800" dirty="0">
                <a:solidFill>
                  <a:schemeClr val="tx1"/>
                </a:solidFill>
                <a:latin typeface="Times New Roman" panose="02020603050405020304" pitchFamily="18" charset="0"/>
                <a:cs typeface="Times New Roman" panose="02020603050405020304" pitchFamily="18" charset="0"/>
              </a:rPr>
              <a:t>. The site has a Roman nymphaeum (fountain) and is theorized to be part of a villa. The location of the nymphaeum is puzzling, primarily because the fountain is far from the nearest aqueduct. The site sits on a natural aquafer, but the lake is primarily fed by watershed from the surrounding hills. The nymphaeum at Valle Gianni is also larger than expected for the location, and there is evidence of a more extensive pipe network. The objective of this research project is to connect the watershed routes around the site to the potential pipe network that fed and drained the fountain and theorize about the location. In the future, the archeologists and historians focused on Valle Gianni may be able to use this project to inform potential population datasets for the Lake. </a:t>
            </a:r>
          </a:p>
          <a:p>
            <a:pPr algn="ctr"/>
            <a:endParaRPr lang="en-US" sz="100" dirty="0">
              <a:solidFill>
                <a:schemeClr val="tx1"/>
              </a:solidFill>
              <a:latin typeface="Times New Roman" panose="02020603050405020304" pitchFamily="18" charset="0"/>
              <a:cs typeface="Times New Roman" panose="02020603050405020304" pitchFamily="18" charset="0"/>
            </a:endParaRPr>
          </a:p>
        </p:txBody>
      </p:sp>
      <p:sp>
        <p:nvSpPr>
          <p:cNvPr id="20" name="Flowchart: Alternate Process 19">
            <a:extLst>
              <a:ext uri="{FF2B5EF4-FFF2-40B4-BE49-F238E27FC236}">
                <a16:creationId xmlns:a16="http://schemas.microsoft.com/office/drawing/2014/main" id="{848C5255-63E2-EB7E-2837-0C8F1569F68B}"/>
              </a:ext>
            </a:extLst>
          </p:cNvPr>
          <p:cNvSpPr/>
          <p:nvPr/>
        </p:nvSpPr>
        <p:spPr>
          <a:xfrm>
            <a:off x="4752975" y="114299"/>
            <a:ext cx="4191000" cy="1843898"/>
          </a:xfrm>
          <a:prstGeom prst="flowChartAlternateProcess">
            <a:avLst/>
          </a:prstGeom>
          <a:solidFill>
            <a:schemeClr val="tx1">
              <a:alpha val="10000"/>
            </a:schemeClr>
          </a:solidFill>
          <a:ln w="38100"/>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latin typeface="Times New Roman" panose="02020603050405020304" pitchFamily="18" charset="0"/>
              <a:cs typeface="Times New Roman" panose="02020603050405020304" pitchFamily="18" charset="0"/>
            </a:endParaRPr>
          </a:p>
          <a:p>
            <a:pPr algn="ctr"/>
            <a:endParaRPr lang="en-US" sz="800" dirty="0">
              <a:solidFill>
                <a:schemeClr val="tx1"/>
              </a:solidFill>
              <a:latin typeface="Times New Roman" panose="02020603050405020304" pitchFamily="18" charset="0"/>
              <a:cs typeface="Times New Roman" panose="02020603050405020304" pitchFamily="18" charset="0"/>
            </a:endParaRPr>
          </a:p>
          <a:p>
            <a:pPr algn="ctr"/>
            <a:endParaRPr lang="en-US" sz="800" dirty="0">
              <a:solidFill>
                <a:schemeClr val="tx1"/>
              </a:solidFill>
              <a:latin typeface="Times New Roman" panose="02020603050405020304" pitchFamily="18" charset="0"/>
              <a:cs typeface="Times New Roman" panose="02020603050405020304" pitchFamily="18" charset="0"/>
            </a:endParaRPr>
          </a:p>
          <a:p>
            <a:pPr algn="ctr"/>
            <a:r>
              <a:rPr lang="en-US" sz="800" dirty="0">
                <a:solidFill>
                  <a:schemeClr val="tx1"/>
                </a:solidFill>
                <a:latin typeface="Times New Roman" panose="02020603050405020304" pitchFamily="18" charset="0"/>
                <a:cs typeface="Times New Roman" panose="02020603050405020304" pitchFamily="18" charset="0"/>
              </a:rPr>
              <a:t>The Romans understood  how to transport non-pressurized water through channels and ditches. </a:t>
            </a:r>
            <a:r>
              <a:rPr lang="en-US" sz="800" b="0" i="0" u="none" strike="noStrike" dirty="0">
                <a:solidFill>
                  <a:srgbClr val="000000"/>
                </a:solidFill>
                <a:effectLst/>
                <a:latin typeface="Times New Roman" panose="02020603050405020304" pitchFamily="18" charset="0"/>
                <a:cs typeface="Times New Roman" panose="02020603050405020304" pitchFamily="18" charset="0"/>
              </a:rPr>
              <a:t>In the case of pressurized water, the Romans used pipes that were primarily made of ceramic, lead and/or stone. Throughout countryside villas, Elites built water features to show prestige and power. This was common in urban areas as well; however, the key difference is the structural design of these fountains. In urban areas, aqueducts were associated with the prestige of urban life. However, on the rural countryside, there was less of a need (and/or a lack of care) for an aqueduct for its population. It would not have been practical to have one. This points us towards answering why the fountain at Valle Gianni does not have an aqueduct.</a:t>
            </a:r>
            <a:endParaRPr lang="en-US" sz="800" dirty="0">
              <a:solidFill>
                <a:schemeClr val="tx1"/>
              </a:solidFill>
              <a:latin typeface="Times New Roman" panose="02020603050405020304" pitchFamily="18" charset="0"/>
              <a:cs typeface="Times New Roman" panose="02020603050405020304" pitchFamily="18" charset="0"/>
            </a:endParaRPr>
          </a:p>
        </p:txBody>
      </p:sp>
      <p:sp>
        <p:nvSpPr>
          <p:cNvPr id="19" name="Flowchart: Alternate Process 18">
            <a:extLst>
              <a:ext uri="{FF2B5EF4-FFF2-40B4-BE49-F238E27FC236}">
                <a16:creationId xmlns:a16="http://schemas.microsoft.com/office/drawing/2014/main" id="{BA2B5388-3AD9-C87B-5186-06575CDDE42E}"/>
              </a:ext>
            </a:extLst>
          </p:cNvPr>
          <p:cNvSpPr/>
          <p:nvPr/>
        </p:nvSpPr>
        <p:spPr>
          <a:xfrm>
            <a:off x="229107" y="3845377"/>
            <a:ext cx="4191000" cy="2784917"/>
          </a:xfrm>
          <a:prstGeom prst="flowChartAlternateProcess">
            <a:avLst/>
          </a:prstGeom>
          <a:solidFill>
            <a:schemeClr val="tx1">
              <a:alpha val="10000"/>
            </a:schemeClr>
          </a:solidFill>
          <a:ln w="38100"/>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800" dirty="0">
              <a:solidFill>
                <a:schemeClr val="tx1"/>
              </a:solidFill>
              <a:latin typeface="Times New Roman" panose="02020603050405020304" pitchFamily="18" charset="0"/>
              <a:cs typeface="Times New Roman" panose="02020603050405020304" pitchFamily="18" charset="0"/>
            </a:endParaRPr>
          </a:p>
          <a:p>
            <a:endParaRPr lang="en-US" sz="800" dirty="0">
              <a:solidFill>
                <a:schemeClr val="tx1"/>
              </a:solidFill>
              <a:latin typeface="Times New Roman" panose="02020603050405020304" pitchFamily="18" charset="0"/>
              <a:cs typeface="Times New Roman" panose="02020603050405020304" pitchFamily="18" charset="0"/>
            </a:endParaRPr>
          </a:p>
          <a:p>
            <a:endParaRPr lang="en-US" sz="800" dirty="0">
              <a:solidFill>
                <a:schemeClr val="tx1"/>
              </a:solidFill>
              <a:latin typeface="Times New Roman" panose="02020603050405020304" pitchFamily="18" charset="0"/>
              <a:cs typeface="Times New Roman" panose="02020603050405020304" pitchFamily="18" charset="0"/>
            </a:endParaRPr>
          </a:p>
          <a:p>
            <a:r>
              <a:rPr lang="en-US" sz="800" dirty="0">
                <a:solidFill>
                  <a:schemeClr val="tx1"/>
                </a:solidFill>
                <a:latin typeface="Times New Roman" panose="02020603050405020304" pitchFamily="18" charset="0"/>
                <a:cs typeface="Times New Roman" panose="02020603050405020304" pitchFamily="18" charset="0"/>
              </a:rPr>
              <a:t>For this research project, the primary method for analyzing and creating hydrologic data is ARCGIS PRO, a powerful geographic tool. Using Digital Elevation Models or DEMs, we can create a watershed raster, which allows for further analysis of watershed routes. The spatial analysis of the watershed route is coupled with descriptors of the Roman nymphaeum from Roman authors and Roman historians, which explain how the fountain could have been fed and drained. </a:t>
            </a:r>
          </a:p>
          <a:p>
            <a:endParaRPr lang="en-US" sz="800" dirty="0">
              <a:solidFill>
                <a:schemeClr val="tx1"/>
              </a:solidFill>
              <a:latin typeface="Times New Roman" panose="02020603050405020304" pitchFamily="18" charset="0"/>
              <a:cs typeface="Times New Roman" panose="02020603050405020304" pitchFamily="18" charset="0"/>
            </a:endParaRPr>
          </a:p>
          <a:p>
            <a:r>
              <a:rPr lang="en-US" sz="800" dirty="0">
                <a:solidFill>
                  <a:schemeClr val="tx1"/>
                </a:solidFill>
                <a:latin typeface="Times New Roman" panose="02020603050405020304" pitchFamily="18" charset="0"/>
                <a:cs typeface="Times New Roman" panose="02020603050405020304" pitchFamily="18" charset="0"/>
              </a:rPr>
              <a:t>Historical, archaeological, and scientific scholarship have been the backbone of understanding the hydrology of Valle Gianni’s nymphaeum. Using primary sources that reveal the Roman understanding of water and how they used it to their benefit has been fundamental to this project. Additionally, the information from the diaries of archaeologists at Lake </a:t>
            </a:r>
            <a:r>
              <a:rPr lang="en-US" sz="800" dirty="0" err="1">
                <a:solidFill>
                  <a:schemeClr val="tx1"/>
                </a:solidFill>
                <a:latin typeface="Times New Roman" panose="02020603050405020304" pitchFamily="18" charset="0"/>
                <a:cs typeface="Times New Roman" panose="02020603050405020304" pitchFamily="18" charset="0"/>
              </a:rPr>
              <a:t>Bolsena</a:t>
            </a:r>
            <a:r>
              <a:rPr lang="en-US" sz="800" dirty="0">
                <a:solidFill>
                  <a:schemeClr val="tx1"/>
                </a:solidFill>
                <a:latin typeface="Times New Roman" panose="02020603050405020304" pitchFamily="18" charset="0"/>
                <a:cs typeface="Times New Roman" panose="02020603050405020304" pitchFamily="18" charset="0"/>
              </a:rPr>
              <a:t> has been important for understanding what has been found and for their understanding of our case study. Using histories of Roman architecture, settlement patterns, and agricultural technologies has provided further insight into the case study.</a:t>
            </a:r>
            <a:br>
              <a:rPr lang="en-US" sz="800" dirty="0">
                <a:solidFill>
                  <a:schemeClr val="tx1"/>
                </a:solidFill>
                <a:latin typeface="Times New Roman" panose="02020603050405020304" pitchFamily="18" charset="0"/>
                <a:cs typeface="Times New Roman" panose="02020603050405020304" pitchFamily="18" charset="0"/>
              </a:rPr>
            </a:br>
            <a:endParaRPr lang="en-US" sz="800" dirty="0">
              <a:solidFill>
                <a:schemeClr val="tx1"/>
              </a:solidFill>
              <a:latin typeface="Times New Roman" panose="02020603050405020304" pitchFamily="18" charset="0"/>
              <a:cs typeface="Times New Roman" panose="02020603050405020304" pitchFamily="18" charset="0"/>
            </a:endParaRPr>
          </a:p>
        </p:txBody>
      </p:sp>
      <p:sp>
        <p:nvSpPr>
          <p:cNvPr id="22" name="Flowchart: Alternate Process 21">
            <a:extLst>
              <a:ext uri="{FF2B5EF4-FFF2-40B4-BE49-F238E27FC236}">
                <a16:creationId xmlns:a16="http://schemas.microsoft.com/office/drawing/2014/main" id="{24D8F065-B520-F4D8-BDFB-1644305EF597}"/>
              </a:ext>
            </a:extLst>
          </p:cNvPr>
          <p:cNvSpPr/>
          <p:nvPr/>
        </p:nvSpPr>
        <p:spPr>
          <a:xfrm>
            <a:off x="4752975" y="2034517"/>
            <a:ext cx="4191000" cy="4709184"/>
          </a:xfrm>
          <a:prstGeom prst="flowChartAlternateProcess">
            <a:avLst/>
          </a:prstGeom>
          <a:solidFill>
            <a:schemeClr val="tx1">
              <a:alpha val="10000"/>
            </a:schemeClr>
          </a:solidFill>
          <a:ln w="38100"/>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900" dirty="0">
              <a:solidFill>
                <a:schemeClr val="tx1"/>
              </a:solidFill>
            </a:endParaRPr>
          </a:p>
        </p:txBody>
      </p:sp>
      <p:sp>
        <p:nvSpPr>
          <p:cNvPr id="21" name="Flowchart: Alternate Process 20">
            <a:extLst>
              <a:ext uri="{FF2B5EF4-FFF2-40B4-BE49-F238E27FC236}">
                <a16:creationId xmlns:a16="http://schemas.microsoft.com/office/drawing/2014/main" id="{8403A5FD-5CA9-17F0-3E88-2995C794AB65}"/>
              </a:ext>
            </a:extLst>
          </p:cNvPr>
          <p:cNvSpPr/>
          <p:nvPr/>
        </p:nvSpPr>
        <p:spPr>
          <a:xfrm>
            <a:off x="229107" y="114300"/>
            <a:ext cx="4191000" cy="1236210"/>
          </a:xfrm>
          <a:prstGeom prst="flowChartAlternateProcess">
            <a:avLst/>
          </a:prstGeom>
          <a:solidFill>
            <a:schemeClr val="tx1">
              <a:alpha val="10000"/>
            </a:schemeClr>
          </a:solidFill>
          <a:ln w="38100"/>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900" dirty="0">
              <a:solidFill>
                <a:schemeClr val="tx1"/>
              </a:solidFill>
              <a:latin typeface="Times New Roman" panose="02020603050405020304" pitchFamily="18" charset="0"/>
              <a:cs typeface="Times New Roman" panose="02020603050405020304" pitchFamily="18" charset="0"/>
            </a:endParaRPr>
          </a:p>
          <a:p>
            <a:endParaRPr lang="en-US" sz="900" dirty="0">
              <a:solidFill>
                <a:schemeClr val="tx1"/>
              </a:solidFill>
              <a:latin typeface="Times New Roman" panose="02020603050405020304" pitchFamily="18" charset="0"/>
              <a:cs typeface="Times New Roman" panose="02020603050405020304" pitchFamily="18" charset="0"/>
            </a:endParaRPr>
          </a:p>
          <a:p>
            <a:endParaRPr lang="en-US" sz="900" dirty="0">
              <a:solidFill>
                <a:schemeClr val="tx1"/>
              </a:solidFill>
              <a:latin typeface="Times New Roman" panose="02020603050405020304" pitchFamily="18" charset="0"/>
              <a:cs typeface="Times New Roman" panose="02020603050405020304" pitchFamily="18" charset="0"/>
            </a:endParaRPr>
          </a:p>
          <a:p>
            <a:endParaRPr lang="en-US" sz="900" dirty="0">
              <a:solidFill>
                <a:schemeClr val="tx1"/>
              </a:solidFill>
              <a:latin typeface="Times New Roman" panose="02020603050405020304" pitchFamily="18" charset="0"/>
              <a:cs typeface="Times New Roman" panose="02020603050405020304" pitchFamily="18" charset="0"/>
            </a:endParaRPr>
          </a:p>
          <a:p>
            <a:endParaRPr lang="en-US" sz="900" dirty="0">
              <a:solidFill>
                <a:schemeClr val="tx1"/>
              </a:solidFill>
              <a:latin typeface="Times New Roman" panose="02020603050405020304" pitchFamily="18" charset="0"/>
              <a:cs typeface="Times New Roman" panose="02020603050405020304" pitchFamily="18" charset="0"/>
            </a:endParaRPr>
          </a:p>
          <a:p>
            <a:r>
              <a:rPr lang="en-US" sz="900" dirty="0">
                <a:solidFill>
                  <a:schemeClr val="tx1"/>
                </a:solidFill>
                <a:latin typeface="Times New Roman" panose="02020603050405020304" pitchFamily="18" charset="0"/>
                <a:cs typeface="Times New Roman" panose="02020603050405020304" pitchFamily="18" charset="0"/>
              </a:rPr>
              <a:t>Presenters:	Luke Faulker (History Undergraduate) (He/Him)</a:t>
            </a:r>
          </a:p>
          <a:p>
            <a:r>
              <a:rPr lang="en-US" sz="900" dirty="0">
                <a:solidFill>
                  <a:schemeClr val="tx1"/>
                </a:solidFill>
                <a:latin typeface="Times New Roman" panose="02020603050405020304" pitchFamily="18" charset="0"/>
                <a:cs typeface="Times New Roman" panose="02020603050405020304" pitchFamily="18" charset="0"/>
              </a:rPr>
              <a:t>		Trey Parrott (History Undergraduate) (He/Him)</a:t>
            </a:r>
          </a:p>
          <a:p>
            <a:endParaRPr lang="en-US" sz="900" dirty="0">
              <a:solidFill>
                <a:schemeClr val="tx1"/>
              </a:solidFill>
              <a:latin typeface="Times New Roman" panose="02020603050405020304" pitchFamily="18" charset="0"/>
              <a:cs typeface="Times New Roman" panose="02020603050405020304" pitchFamily="18" charset="0"/>
            </a:endParaRPr>
          </a:p>
          <a:p>
            <a:r>
              <a:rPr lang="en-US" sz="900" dirty="0">
                <a:solidFill>
                  <a:schemeClr val="tx1"/>
                </a:solidFill>
                <a:latin typeface="Times New Roman" panose="02020603050405020304" pitchFamily="18" charset="0"/>
                <a:cs typeface="Times New Roman" panose="02020603050405020304" pitchFamily="18" charset="0"/>
              </a:rPr>
              <a:t>Mentors: 	Dr. Kathryn Jasper (History Department) (She/Her) </a:t>
            </a:r>
          </a:p>
          <a:p>
            <a:endParaRPr lang="en-US" sz="900" dirty="0">
              <a:solidFill>
                <a:schemeClr val="tx1"/>
              </a:solidFill>
              <a:latin typeface="Times New Roman" panose="02020603050405020304" pitchFamily="18" charset="0"/>
              <a:cs typeface="Times New Roman" panose="02020603050405020304" pitchFamily="18" charset="0"/>
            </a:endParaRPr>
          </a:p>
        </p:txBody>
      </p:sp>
      <p:sp>
        <p:nvSpPr>
          <p:cNvPr id="17" name="Flowchart: Alternate Process 16">
            <a:extLst>
              <a:ext uri="{FF2B5EF4-FFF2-40B4-BE49-F238E27FC236}">
                <a16:creationId xmlns:a16="http://schemas.microsoft.com/office/drawing/2014/main" id="{DE2B5898-7C4A-CBF5-9F49-4F7F6BFF34F0}"/>
              </a:ext>
            </a:extLst>
          </p:cNvPr>
          <p:cNvSpPr/>
          <p:nvPr/>
        </p:nvSpPr>
        <p:spPr>
          <a:xfrm>
            <a:off x="5529531" y="2139321"/>
            <a:ext cx="2743201" cy="400110"/>
          </a:xfrm>
          <a:prstGeom prst="flowChartAlternateProcess">
            <a:avLst/>
          </a:prstGeom>
          <a:solidFill>
            <a:schemeClr val="accent2">
              <a:alpha val="30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lowchart: Alternate Process 15">
            <a:extLst>
              <a:ext uri="{FF2B5EF4-FFF2-40B4-BE49-F238E27FC236}">
                <a16:creationId xmlns:a16="http://schemas.microsoft.com/office/drawing/2014/main" id="{65A05842-1FA9-C5B5-B144-AE8852CF58C6}"/>
              </a:ext>
            </a:extLst>
          </p:cNvPr>
          <p:cNvSpPr/>
          <p:nvPr/>
        </p:nvSpPr>
        <p:spPr>
          <a:xfrm>
            <a:off x="357694" y="227706"/>
            <a:ext cx="3933825" cy="484000"/>
          </a:xfrm>
          <a:prstGeom prst="flowChartAlternateProcess">
            <a:avLst/>
          </a:prstGeom>
          <a:solidFill>
            <a:schemeClr val="accent2">
              <a:alpha val="30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lowchart: Alternate Process 14">
            <a:extLst>
              <a:ext uri="{FF2B5EF4-FFF2-40B4-BE49-F238E27FC236}">
                <a16:creationId xmlns:a16="http://schemas.microsoft.com/office/drawing/2014/main" id="{671F3F56-0D74-F7A7-2788-5D888322DB6B}"/>
              </a:ext>
            </a:extLst>
          </p:cNvPr>
          <p:cNvSpPr/>
          <p:nvPr/>
        </p:nvSpPr>
        <p:spPr>
          <a:xfrm>
            <a:off x="5724270" y="190618"/>
            <a:ext cx="2353721" cy="400110"/>
          </a:xfrm>
          <a:prstGeom prst="flowChartAlternateProcess">
            <a:avLst/>
          </a:prstGeom>
          <a:solidFill>
            <a:schemeClr val="accent2">
              <a:alpha val="30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lowchart: Alternate Process 13">
            <a:extLst>
              <a:ext uri="{FF2B5EF4-FFF2-40B4-BE49-F238E27FC236}">
                <a16:creationId xmlns:a16="http://schemas.microsoft.com/office/drawing/2014/main" id="{4E19D415-46E7-91DA-4841-66C68BC199A1}"/>
              </a:ext>
            </a:extLst>
          </p:cNvPr>
          <p:cNvSpPr/>
          <p:nvPr/>
        </p:nvSpPr>
        <p:spPr>
          <a:xfrm>
            <a:off x="1234549" y="3938867"/>
            <a:ext cx="2098356" cy="377690"/>
          </a:xfrm>
          <a:prstGeom prst="flowChartAlternateProcess">
            <a:avLst/>
          </a:prstGeom>
          <a:solidFill>
            <a:schemeClr val="accent2">
              <a:alpha val="30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lowchart: Alternate Process 12">
            <a:extLst>
              <a:ext uri="{FF2B5EF4-FFF2-40B4-BE49-F238E27FC236}">
                <a16:creationId xmlns:a16="http://schemas.microsoft.com/office/drawing/2014/main" id="{13691502-2509-6357-075D-C45DC8E9F027}"/>
              </a:ext>
            </a:extLst>
          </p:cNvPr>
          <p:cNvSpPr/>
          <p:nvPr/>
        </p:nvSpPr>
        <p:spPr>
          <a:xfrm>
            <a:off x="1154604" y="1504601"/>
            <a:ext cx="2258247" cy="377690"/>
          </a:xfrm>
          <a:prstGeom prst="flowChartAlternateProcess">
            <a:avLst/>
          </a:prstGeom>
          <a:solidFill>
            <a:schemeClr val="accent2">
              <a:alpha val="30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89DCDAD-B02B-C82C-F85B-AE2D36B6ABCB}"/>
              </a:ext>
            </a:extLst>
          </p:cNvPr>
          <p:cNvSpPr txBox="1"/>
          <p:nvPr/>
        </p:nvSpPr>
        <p:spPr>
          <a:xfrm>
            <a:off x="1117568" y="1539558"/>
            <a:ext cx="2258247" cy="307777"/>
          </a:xfrm>
          <a:prstGeom prst="rect">
            <a:avLst/>
          </a:prstGeom>
          <a:noFill/>
        </p:spPr>
        <p:txBody>
          <a:bodyPr wrap="none" rtlCol="0">
            <a:spAutoFit/>
          </a:bodyPr>
          <a:lstStyle/>
          <a:p>
            <a:r>
              <a:rPr lang="en-US" sz="1400" b="1" dirty="0">
                <a:latin typeface="+mj-lt"/>
              </a:rPr>
              <a:t>Introduction and Objectives</a:t>
            </a:r>
          </a:p>
        </p:txBody>
      </p:sp>
      <p:sp>
        <p:nvSpPr>
          <p:cNvPr id="5" name="TextBox 4">
            <a:extLst>
              <a:ext uri="{FF2B5EF4-FFF2-40B4-BE49-F238E27FC236}">
                <a16:creationId xmlns:a16="http://schemas.microsoft.com/office/drawing/2014/main" id="{A267FE51-F5D2-7163-EAFA-02EBE21DD351}"/>
              </a:ext>
            </a:extLst>
          </p:cNvPr>
          <p:cNvSpPr txBox="1"/>
          <p:nvPr/>
        </p:nvSpPr>
        <p:spPr>
          <a:xfrm>
            <a:off x="1485881" y="3989212"/>
            <a:ext cx="1677447"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Methods and Research</a:t>
            </a:r>
            <a:endParaRPr lang="en-US" sz="20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1ED712A-F6E6-ACE3-8E3E-531102FCE17B}"/>
              </a:ext>
            </a:extLst>
          </p:cNvPr>
          <p:cNvSpPr txBox="1"/>
          <p:nvPr/>
        </p:nvSpPr>
        <p:spPr>
          <a:xfrm>
            <a:off x="557718" y="209788"/>
            <a:ext cx="3533775" cy="523220"/>
          </a:xfrm>
          <a:prstGeom prst="rect">
            <a:avLst/>
          </a:prstGeom>
          <a:noFill/>
        </p:spPr>
        <p:txBody>
          <a:bodyPr wrap="square" rtlCol="0">
            <a:spAutoFit/>
          </a:bodyPr>
          <a:lstStyle/>
          <a:p>
            <a:pPr algn="ctr"/>
            <a:r>
              <a:rPr lang="en-US" sz="1400" b="1" dirty="0">
                <a:latin typeface="Times New Roman" panose="02020603050405020304" pitchFamily="18" charset="0"/>
                <a:cs typeface="Times New Roman" panose="02020603050405020304" pitchFamily="18" charset="0"/>
              </a:rPr>
              <a:t>The Nymphaeum of Valle Gianni – Location as a Water Feature</a:t>
            </a:r>
            <a:endParaRPr lang="en-US" sz="20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2AFA064-1CC6-5E05-2340-23C4B8F3910C}"/>
              </a:ext>
            </a:extLst>
          </p:cNvPr>
          <p:cNvSpPr txBox="1"/>
          <p:nvPr/>
        </p:nvSpPr>
        <p:spPr>
          <a:xfrm>
            <a:off x="5529531" y="2188999"/>
            <a:ext cx="2743201" cy="307777"/>
          </a:xfrm>
          <a:prstGeom prst="rect">
            <a:avLst/>
          </a:prstGeom>
          <a:noFill/>
        </p:spPr>
        <p:txBody>
          <a:bodyPr wrap="square" rtlCol="0">
            <a:spAutoFit/>
          </a:bodyPr>
          <a:lstStyle/>
          <a:p>
            <a:pPr algn="ctr"/>
            <a:r>
              <a:rPr lang="en-US" sz="1400" b="1" dirty="0">
                <a:latin typeface="Times New Roman" panose="02020603050405020304" pitchFamily="18" charset="0"/>
                <a:cs typeface="Times New Roman" panose="02020603050405020304" pitchFamily="18" charset="0"/>
              </a:rPr>
              <a:t>Hydrology Images</a:t>
            </a:r>
          </a:p>
        </p:txBody>
      </p:sp>
      <p:sp>
        <p:nvSpPr>
          <p:cNvPr id="10" name="TextBox 9">
            <a:extLst>
              <a:ext uri="{FF2B5EF4-FFF2-40B4-BE49-F238E27FC236}">
                <a16:creationId xmlns:a16="http://schemas.microsoft.com/office/drawing/2014/main" id="{C82326B4-EEA7-BAF2-2C3A-E1FE132E2350}"/>
              </a:ext>
            </a:extLst>
          </p:cNvPr>
          <p:cNvSpPr txBox="1"/>
          <p:nvPr/>
        </p:nvSpPr>
        <p:spPr>
          <a:xfrm>
            <a:off x="5476874" y="236784"/>
            <a:ext cx="2743201" cy="307777"/>
          </a:xfrm>
          <a:prstGeom prst="rect">
            <a:avLst/>
          </a:prstGeom>
          <a:noFill/>
        </p:spPr>
        <p:txBody>
          <a:bodyPr wrap="square" rtlCol="0">
            <a:spAutoFit/>
          </a:bodyPr>
          <a:lstStyle/>
          <a:p>
            <a:pPr algn="ctr"/>
            <a:r>
              <a:rPr lang="en-US" sz="1400" b="1" dirty="0">
                <a:latin typeface="Times New Roman" panose="02020603050405020304" pitchFamily="18" charset="0"/>
                <a:cs typeface="Times New Roman" panose="02020603050405020304" pitchFamily="18" charset="0"/>
              </a:rPr>
              <a:t>Villas and Water Features</a:t>
            </a:r>
          </a:p>
        </p:txBody>
      </p:sp>
      <p:pic>
        <p:nvPicPr>
          <p:cNvPr id="23" name="Picture 22">
            <a:extLst>
              <a:ext uri="{FF2B5EF4-FFF2-40B4-BE49-F238E27FC236}">
                <a16:creationId xmlns:a16="http://schemas.microsoft.com/office/drawing/2014/main" id="{7D53C32D-5365-3F0B-DB26-77BB60DE84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8150" y="2719940"/>
            <a:ext cx="2000776" cy="1125437"/>
          </a:xfrm>
          <a:prstGeom prst="rect">
            <a:avLst/>
          </a:prstGeom>
        </p:spPr>
      </p:pic>
      <p:pic>
        <p:nvPicPr>
          <p:cNvPr id="26" name="Picture 25">
            <a:extLst>
              <a:ext uri="{FF2B5EF4-FFF2-40B4-BE49-F238E27FC236}">
                <a16:creationId xmlns:a16="http://schemas.microsoft.com/office/drawing/2014/main" id="{6B5DF6B9-41EF-E2E4-E813-507E2F2DB8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3181" y="5331831"/>
            <a:ext cx="2000777" cy="1125437"/>
          </a:xfrm>
          <a:prstGeom prst="rect">
            <a:avLst/>
          </a:prstGeom>
        </p:spPr>
      </p:pic>
      <p:pic>
        <p:nvPicPr>
          <p:cNvPr id="28" name="Picture 27">
            <a:extLst>
              <a:ext uri="{FF2B5EF4-FFF2-40B4-BE49-F238E27FC236}">
                <a16:creationId xmlns:a16="http://schemas.microsoft.com/office/drawing/2014/main" id="{F046DA37-B80E-FD4C-0391-E585BBB990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8150" y="4025886"/>
            <a:ext cx="2000776" cy="1125437"/>
          </a:xfrm>
          <a:prstGeom prst="rect">
            <a:avLst/>
          </a:prstGeom>
        </p:spPr>
      </p:pic>
      <p:sp>
        <p:nvSpPr>
          <p:cNvPr id="29" name="TextBox 28">
            <a:extLst>
              <a:ext uri="{FF2B5EF4-FFF2-40B4-BE49-F238E27FC236}">
                <a16:creationId xmlns:a16="http://schemas.microsoft.com/office/drawing/2014/main" id="{F180C43C-3A43-B4F7-79F7-0B76D7D0C4AC}"/>
              </a:ext>
            </a:extLst>
          </p:cNvPr>
          <p:cNvSpPr txBox="1"/>
          <p:nvPr/>
        </p:nvSpPr>
        <p:spPr>
          <a:xfrm>
            <a:off x="4851400" y="2635250"/>
            <a:ext cx="1892300" cy="954107"/>
          </a:xfrm>
          <a:prstGeom prst="rect">
            <a:avLst/>
          </a:prstGeom>
          <a:noFill/>
        </p:spPr>
        <p:txBody>
          <a:bodyPr wrap="square" rtlCol="0">
            <a:spAutoFit/>
          </a:bodyPr>
          <a:lstStyle/>
          <a:p>
            <a:pPr marL="171450" indent="-171450">
              <a:buFont typeface="Arial" panose="020B0604020202020204" pitchFamily="34" charset="0"/>
              <a:buChar char="•"/>
            </a:pPr>
            <a:r>
              <a:rPr lang="en-US" sz="800" dirty="0">
                <a:latin typeface="Times New Roman" panose="02020603050405020304" pitchFamily="18" charset="0"/>
                <a:cs typeface="Times New Roman" panose="02020603050405020304" pitchFamily="18" charset="0"/>
              </a:rPr>
              <a:t>A visualization of the original DEM (digital elevation model) which is a measurement of terrain height. These scans are done professionally and this DEM specifically contained much of central Italy. This DEM is central for the hydrological analysis of the lake. </a:t>
            </a:r>
          </a:p>
        </p:txBody>
      </p:sp>
      <p:sp>
        <p:nvSpPr>
          <p:cNvPr id="30" name="TextBox 29">
            <a:extLst>
              <a:ext uri="{FF2B5EF4-FFF2-40B4-BE49-F238E27FC236}">
                <a16:creationId xmlns:a16="http://schemas.microsoft.com/office/drawing/2014/main" id="{F945F3B6-C683-F2FE-91DC-05EF627D8F70}"/>
              </a:ext>
            </a:extLst>
          </p:cNvPr>
          <p:cNvSpPr txBox="1"/>
          <p:nvPr/>
        </p:nvSpPr>
        <p:spPr>
          <a:xfrm>
            <a:off x="4851400" y="4025886"/>
            <a:ext cx="1892300" cy="1077218"/>
          </a:xfrm>
          <a:prstGeom prst="rect">
            <a:avLst/>
          </a:prstGeom>
          <a:noFill/>
        </p:spPr>
        <p:txBody>
          <a:bodyPr wrap="square" rtlCol="0">
            <a:spAutoFit/>
          </a:bodyPr>
          <a:lstStyle/>
          <a:p>
            <a:pPr marL="171450" indent="-171450">
              <a:buFont typeface="Arial" panose="020B0604020202020204" pitchFamily="34" charset="0"/>
              <a:buChar char="•"/>
            </a:pPr>
            <a:r>
              <a:rPr lang="en-US" sz="800" dirty="0">
                <a:latin typeface="Times New Roman" panose="02020603050405020304" pitchFamily="18" charset="0"/>
                <a:cs typeface="Times New Roman" panose="02020603050405020304" pitchFamily="18" charset="0"/>
              </a:rPr>
              <a:t>This image is a visualization of the water flow. Each color is a cell that has an assigned value which dictates the direction of flow. From this layer, many hydrological process can be analyzed and extrapolated. This visualization has the errors in the original DEM filled in for accuracy. </a:t>
            </a:r>
          </a:p>
        </p:txBody>
      </p:sp>
      <p:sp>
        <p:nvSpPr>
          <p:cNvPr id="31" name="TextBox 30">
            <a:extLst>
              <a:ext uri="{FF2B5EF4-FFF2-40B4-BE49-F238E27FC236}">
                <a16:creationId xmlns:a16="http://schemas.microsoft.com/office/drawing/2014/main" id="{A09F6272-8A10-2AE6-C79E-EC5C692AB40A}"/>
              </a:ext>
            </a:extLst>
          </p:cNvPr>
          <p:cNvSpPr txBox="1"/>
          <p:nvPr/>
        </p:nvSpPr>
        <p:spPr>
          <a:xfrm>
            <a:off x="4851400" y="5331831"/>
            <a:ext cx="1892300" cy="830997"/>
          </a:xfrm>
          <a:prstGeom prst="rect">
            <a:avLst/>
          </a:prstGeom>
          <a:noFill/>
        </p:spPr>
        <p:txBody>
          <a:bodyPr wrap="square" rtlCol="0">
            <a:spAutoFit/>
          </a:bodyPr>
          <a:lstStyle/>
          <a:p>
            <a:pPr marL="171450" indent="-171450">
              <a:buFont typeface="Arial" panose="020B0604020202020204" pitchFamily="34" charset="0"/>
              <a:buChar char="•"/>
            </a:pPr>
            <a:r>
              <a:rPr lang="en-US" sz="800" dirty="0">
                <a:latin typeface="Times New Roman" panose="02020603050405020304" pitchFamily="18" charset="0"/>
                <a:cs typeface="Times New Roman" panose="02020603050405020304" pitchFamily="18" charset="0"/>
              </a:rPr>
              <a:t>This image is a visualization of the individual streams extrapolated from the flow direction above. These streams are tagged individually and can be edited by hydrologists to find specific data. </a:t>
            </a:r>
          </a:p>
        </p:txBody>
      </p:sp>
    </p:spTree>
    <p:extLst>
      <p:ext uri="{BB962C8B-B14F-4D97-AF65-F5344CB8AC3E}">
        <p14:creationId xmlns:p14="http://schemas.microsoft.com/office/powerpoint/2010/main" val="2844974384"/>
      </p:ext>
    </p:extLst>
  </p:cSld>
  <p:clrMapOvr>
    <a:masterClrMapping/>
  </p:clrMapOvr>
</p:sld>
</file>

<file path=ppt/theme/theme1.xml><?xml version="1.0" encoding="utf-8"?>
<a:theme xmlns:a="http://schemas.openxmlformats.org/drawingml/2006/main" name="Office Theme">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169</TotalTime>
  <Words>681</Words>
  <Application>Microsoft Office PowerPoint</Application>
  <PresentationFormat>On-screen Show (4:3)</PresentationFormat>
  <Paragraphs>31</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Parrott, Trey</dc:creator>
  <cp:lastModifiedBy>trey parrott</cp:lastModifiedBy>
  <cp:revision>11</cp:revision>
  <dcterms:created xsi:type="dcterms:W3CDTF">2026-03-26T18:06:33Z</dcterms:created>
  <dcterms:modified xsi:type="dcterms:W3CDTF">2026-05-05T15:18:38Z</dcterms:modified>
</cp:coreProperties>
</file>